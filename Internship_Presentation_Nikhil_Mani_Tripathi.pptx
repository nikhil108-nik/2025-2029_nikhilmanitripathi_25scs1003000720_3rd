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12188952" cy="1965960"/>
          </a:xfrm>
          <a:prstGeom prst="rect">
            <a:avLst/>
          </a:prstGeom>
          <a:solidFill>
            <a:srgbClr val="141B4D"/>
          </a:solidFill>
          <a:ln/>
        </p:spPr>
      </p:sp>
      <p:pic>
        <p:nvPicPr>
          <p:cNvPr id="3" name="Image 0" descr="/mnt/user-data/uploads/Screenshot_2026-08-29_1648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7236" y="502920"/>
            <a:ext cx="1554480" cy="12435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87452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IILM UNIVERSITY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0" y="237744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Noida, Uttar Pradesh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88636" y="2880360"/>
            <a:ext cx="2011680" cy="0"/>
          </a:xfrm>
          <a:prstGeom prst="line">
            <a:avLst/>
          </a:prstGeom>
          <a:noFill/>
          <a:ln w="25400">
            <a:solidFill>
              <a:srgbClr val="7A1F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0" y="30175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Report Presentation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0" y="3493008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2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Teaching &amp; Social Outreach Programme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071116" y="4160520"/>
            <a:ext cx="80467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528316" y="44165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7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82996" y="44165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 Mani Tripathi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528316" y="48737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7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682996" y="48737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25SCS1003000720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528316" y="53309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7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82996" y="53309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— 3rd Semester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528316" y="57881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7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682996" y="57881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Mahila SewaShakti Foundation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7A1F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Acknowledgement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4709160"/>
          </a:xfrm>
          <a:prstGeom prst="roundRect">
            <a:avLst>
              <a:gd name="adj" fmla="val 1942"/>
            </a:avLst>
          </a:prstGeom>
          <a:solidFill>
            <a:srgbClr val="F7F7FA"/>
          </a:solidFill>
          <a:ln w="12700">
            <a:solidFill>
              <a:srgbClr val="E3E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101498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using this opportunity to express my gratitude to everyone who supported me throughout this internship — for their guidance, encouragement and constant support during this journey.
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extend my heartfelt thanks to </a:t>
            </a:r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7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Sarita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our mentor at the NGO, for her constant guidance, patience and encouragement. Her supervision made this experience truly meaningful.
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also thankful to </a:t>
            </a:r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7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Mahila SewaShakti Foundation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opportunity to be part of this social internship, and to my institute, </a:t>
            </a:r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the faculty of the School of Computer Science and Engineering, for their continuous support.
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Finally, I express my gratitude to my parents for their blessings, and to my fellow group members for their teamwork and cooperation throughout the internship.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 Mani Tripathi  |  25SCS1003000720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7A1F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Completion Certificate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737360" y="1508760"/>
            <a:ext cx="8732520" cy="4617720"/>
          </a:xfrm>
          <a:prstGeom prst="roundRect">
            <a:avLst>
              <a:gd name="adj" fmla="val 1584"/>
            </a:avLst>
          </a:prstGeom>
          <a:solidFill>
            <a:srgbClr val="FAFAFC"/>
          </a:solidFill>
          <a:ln w="19050">
            <a:solidFill>
              <a:srgbClr val="7A1F2E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682996" y="2148840"/>
            <a:ext cx="822960" cy="822960"/>
          </a:xfrm>
          <a:prstGeom prst="ellipse">
            <a:avLst/>
          </a:prstGeom>
          <a:solidFill>
            <a:srgbClr val="EFE3E5"/>
          </a:solidFill>
          <a:ln w="19050">
            <a:solidFill>
              <a:srgbClr val="7A1F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82996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194560" y="324612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to be inserted here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651760" y="3794760"/>
            <a:ext cx="6903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the scanned copy of the Internship Completion Certificate issued by Mahila SewaShakti Foundation on this slide.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51760" y="5577840"/>
            <a:ext cx="6903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Insert → Picture, then resize the certificate image to fit within this dashed frame.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 Mani Tripathi  |  25SCS1003000720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7A1F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6446520" cy="4709160"/>
          </a:xfrm>
          <a:prstGeom prst="roundRect">
            <a:avLst>
              <a:gd name="adj" fmla="val 1942"/>
            </a:avLst>
          </a:prstGeom>
          <a:solidFill>
            <a:srgbClr val="F7F7F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37360"/>
            <a:ext cx="5806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presents a detailed account of the social internship undertaken with Mahila SewaShakti Foundation, as part of the B.Tech (CSE) programme at IILM University, Greater Noida.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conventional technical internship, this was a group social internship in which our team taught students of Classes 1st, 3rd and 5th at the foundation's centre — strengthening their academic foundation and developing our own communication, patience, teamwork and social responsibility.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269480" y="1417320"/>
            <a:ext cx="434340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543800" y="1554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hrs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9189720" y="15544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2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weekly session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269480" y="3017520"/>
            <a:ext cx="4343400" cy="1371600"/>
          </a:xfrm>
          <a:prstGeom prst="roundRect">
            <a:avLst>
              <a:gd name="adj" fmla="val 6667"/>
            </a:avLst>
          </a:prstGeom>
          <a:solidFill>
            <a:srgbClr val="7A1F2E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31546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9189720" y="31546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2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over 1 month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69480" y="4617720"/>
            <a:ext cx="434340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543800" y="4754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189720" y="47548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2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taught (I, III, V)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 Mani Tripathi  |  25SCS1003000720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7A1F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Profile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63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Mahila SewaShakti Foundation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2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Non-Governmental Organization (NGO)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Mahila SewaShakti Foundation works towards the welfare, empowerment and education of underprivileged communities, with a special focus on women and children.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3538728" cy="2331720"/>
          </a:xfrm>
          <a:prstGeom prst="roundRect">
            <a:avLst>
              <a:gd name="adj" fmla="val 3922"/>
            </a:avLst>
          </a:prstGeom>
          <a:solidFill>
            <a:srgbClr val="F7F7FA"/>
          </a:solidFill>
          <a:ln w="12700">
            <a:solidFill>
              <a:srgbClr val="E3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4041648"/>
            <a:ext cx="384048" cy="384048"/>
          </a:xfrm>
          <a:prstGeom prst="ellipse">
            <a:avLst/>
          </a:prstGeom>
          <a:solidFill>
            <a:srgbClr val="7A1F2E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455371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Centre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4672" y="50292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learning centre for students from nearby areas who lack access to consistent quality schooling.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25112" y="3794760"/>
            <a:ext cx="3538728" cy="2331720"/>
          </a:xfrm>
          <a:prstGeom prst="roundRect">
            <a:avLst>
              <a:gd name="adj" fmla="val 3922"/>
            </a:avLst>
          </a:prstGeom>
          <a:solidFill>
            <a:srgbClr val="F7F7FA"/>
          </a:solidFill>
          <a:ln w="12700">
            <a:solidFill>
              <a:srgbClr val="E3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81144" y="4041648"/>
            <a:ext cx="384048" cy="384048"/>
          </a:xfrm>
          <a:prstGeom prst="ellipse">
            <a:avLst/>
          </a:prstGeom>
          <a:solidFill>
            <a:srgbClr val="7A1F2E"/>
          </a:solidFill>
          <a:ln/>
        </p:spPr>
      </p:sp>
      <p:sp>
        <p:nvSpPr>
          <p:cNvPr id="15" name="Text 13"/>
          <p:cNvSpPr/>
          <p:nvPr/>
        </p:nvSpPr>
        <p:spPr>
          <a:xfrm>
            <a:off x="4581144" y="455371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 Area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81144" y="50292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support, welfare and empowerment of women and children in underprivileged communities.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01584" y="3794760"/>
            <a:ext cx="3538728" cy="2331720"/>
          </a:xfrm>
          <a:prstGeom prst="roundRect">
            <a:avLst>
              <a:gd name="adj" fmla="val 3922"/>
            </a:avLst>
          </a:prstGeom>
          <a:solidFill>
            <a:srgbClr val="F7F7FA"/>
          </a:solidFill>
          <a:ln w="12700">
            <a:solidFill>
              <a:srgbClr val="E3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57616" y="4041648"/>
            <a:ext cx="384048" cy="384048"/>
          </a:xfrm>
          <a:prstGeom prst="ellipse">
            <a:avLst/>
          </a:prstGeom>
          <a:solidFill>
            <a:srgbClr val="7A1F2E"/>
          </a:solidFill>
          <a:ln/>
        </p:spPr>
      </p:sp>
      <p:sp>
        <p:nvSpPr>
          <p:cNvPr id="19" name="Text 17"/>
          <p:cNvSpPr/>
          <p:nvPr/>
        </p:nvSpPr>
        <p:spPr>
          <a:xfrm>
            <a:off x="8357616" y="455371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Volunteer-Driven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57616" y="50292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student volunteers and interns to conduct remedial classes and mentor children.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 Mani Tripathi  |  25SCS1003000720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7A1F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7040880" cy="4434840"/>
          </a:xfrm>
          <a:prstGeom prst="roundRect">
            <a:avLst>
              <a:gd name="adj" fmla="val 2062"/>
            </a:avLst>
          </a:prstGeom>
          <a:solidFill>
            <a:srgbClr val="F7F7F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6400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number of children studying at the foundation's centre come from economically weaker backgrounds and do not always have access to consistent schooling, guidance, or academic support at home.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result, many students lag behind the learning level expected for their class.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was designed to address this gap by providing focused, small-group remedial teaching to students of Classes 1st, 3rd and 5th, and to help identify and support students who were struggling the most.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818120" y="1554480"/>
            <a:ext cx="3794760" cy="4434840"/>
          </a:xfrm>
          <a:prstGeom prst="roundRect">
            <a:avLst>
              <a:gd name="adj" fmla="val 2410"/>
            </a:avLst>
          </a:prstGeom>
          <a:solidFill>
            <a:srgbClr val="7A1F2E"/>
          </a:solidFill>
          <a:ln/>
        </p:spPr>
      </p:sp>
      <p:sp>
        <p:nvSpPr>
          <p:cNvPr id="8" name="Text 6"/>
          <p:cNvSpPr/>
          <p:nvPr/>
        </p:nvSpPr>
        <p:spPr>
          <a:xfrm>
            <a:off x="8092440" y="1783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Gap Identified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92440" y="2331720"/>
            <a:ext cx="3291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schooling</a:t>
            </a:r>
            <a:endParaRPr lang="en-US" sz="1350" dirty="0"/>
          </a:p>
          <a:p>
            <a:pPr algn="l"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home academic support</a:t>
            </a:r>
            <a:endParaRPr lang="en-US" sz="1350" dirty="0"/>
          </a:p>
          <a:p>
            <a:pPr algn="l"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below expected class level</a:t>
            </a:r>
            <a:endParaRPr lang="en-US" sz="1350" dirty="0"/>
          </a:p>
          <a:p>
            <a:pPr algn="l"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individualized, small-group teaching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 Mani Tripathi  |  25SCS1003000720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7A1F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the Internship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F7F7FA"/>
          </a:solidFill>
          <a:ln w="12700">
            <a:solidFill>
              <a:srgbClr val="E3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97510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9751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536192"/>
            <a:ext cx="429768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engaging and effective teaching sessions for students of Classes 1st, 3rd and 5th.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146304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F7F7FA"/>
          </a:solidFill>
          <a:ln w="12700">
            <a:solidFill>
              <a:srgbClr val="E3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81928" y="197510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281928" y="19751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0" y="1536192"/>
            <a:ext cx="429768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the existing academic level of each student and identify learning gaps.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F7F7FA"/>
          </a:solidFill>
          <a:ln w="12700">
            <a:solidFill>
              <a:srgbClr val="E3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366674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666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25880" y="3227832"/>
            <a:ext cx="429768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students improve their basic reading, writing, and mathematical skills.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80760" y="315468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F7F7FA"/>
          </a:solidFill>
          <a:ln w="12700">
            <a:solidFill>
              <a:srgbClr val="E3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81928" y="366674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281928" y="3666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0" y="3227832"/>
            <a:ext cx="429768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confidence among students and encourage active participation in class.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84632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F7F7FA"/>
          </a:solidFill>
          <a:ln w="12700">
            <a:solidFill>
              <a:srgbClr val="E3E3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" y="535838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5358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25880" y="4919472"/>
            <a:ext cx="429768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collaboratively as a group of interns under the guidance of the NGO mentor.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080760" y="484632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F7F7FA"/>
          </a:solidFill>
          <a:ln w="12700">
            <a:solidFill>
              <a:srgbClr val="E3E3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81928" y="535838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6281928" y="5358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58000" y="4919472"/>
            <a:ext cx="429768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soft skills — patience, communication, empathy and responsibility.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 Mani Tripathi  |  25SCS1003000720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7A1F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the Internship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scope of this internship was limited to conducting in-person teaching sessions at the Mahila SewaShakti Foundation centre — once every week on Mondays, for two hours per session, spread across one month.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3520440"/>
            <a:ext cx="548640" cy="0"/>
          </a:xfrm>
          <a:prstGeom prst="line">
            <a:avLst/>
          </a:prstGeom>
          <a:noFill/>
          <a:ln w="19050">
            <a:solidFill>
              <a:srgbClr val="F2E9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65760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2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Mahila SewaShakti Foundation centre — in-person sessions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67735" y="27889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7A1F2E"/>
          </a:solidFill>
          <a:ln/>
        </p:spPr>
      </p:sp>
      <p:sp>
        <p:nvSpPr>
          <p:cNvPr id="11" name="Text 9"/>
          <p:cNvSpPr/>
          <p:nvPr/>
        </p:nvSpPr>
        <p:spPr>
          <a:xfrm>
            <a:off x="3596335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596335" y="3520440"/>
            <a:ext cx="548640" cy="0"/>
          </a:xfrm>
          <a:prstGeom prst="line">
            <a:avLst/>
          </a:prstGeom>
          <a:noFill/>
          <a:ln w="19050">
            <a:solidFill>
              <a:srgbClr val="F2E9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96335" y="365760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2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Monday, one session per week, across one month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86830" y="27889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15430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15430" y="3520440"/>
            <a:ext cx="548640" cy="0"/>
          </a:xfrm>
          <a:prstGeom prst="line">
            <a:avLst/>
          </a:prstGeom>
          <a:noFill/>
          <a:ln w="19050">
            <a:solidFill>
              <a:srgbClr val="F2E9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5430" y="365760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2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hours per teaching session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005926" y="27889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7A1F2E"/>
          </a:solidFill>
          <a:ln/>
        </p:spPr>
      </p:sp>
      <p:sp>
        <p:nvSpPr>
          <p:cNvPr id="19" name="Text 17"/>
          <p:cNvSpPr/>
          <p:nvPr/>
        </p:nvSpPr>
        <p:spPr>
          <a:xfrm>
            <a:off x="9234526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234526" y="3520440"/>
            <a:ext cx="548640" cy="0"/>
          </a:xfrm>
          <a:prstGeom prst="line">
            <a:avLst/>
          </a:prstGeom>
          <a:noFill/>
          <a:ln w="19050">
            <a:solidFill>
              <a:srgbClr val="F2E9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4526" y="365760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2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(counting, tables, multiplication, division) &amp; language skills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 Mani Tripathi  |  25SCS1003000720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7A1F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Teaching Methodology &amp; Activities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group followed a hands-on, student-centric teaching approach. Each session began with a quick assessment of what students remembered from the previous week, followed by focused teaching, one-on-one doubt-clearing, and group activities. As students belonged to different classes and learning levels, we divided ourselves within the group so each intern could focus on a smaller group or individual student, ensuring no child was left behind.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F7F7FA"/>
          </a:solidFill>
          <a:ln w="12700">
            <a:solidFill>
              <a:srgbClr val="E3E3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3246120"/>
            <a:ext cx="548640" cy="548640"/>
          </a:xfrm>
          <a:prstGeom prst="ellipse">
            <a:avLst/>
          </a:prstGeom>
          <a:solidFill>
            <a:srgbClr val="7A1F2E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3931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 assessment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67735" y="306324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F7F7FA"/>
          </a:solidFill>
          <a:ln w="12700">
            <a:solidFill>
              <a:srgbClr val="E3E3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19295" y="3246120"/>
            <a:ext cx="548640" cy="548640"/>
          </a:xfrm>
          <a:prstGeom prst="ellipse">
            <a:avLst/>
          </a:prstGeom>
          <a:solidFill>
            <a:srgbClr val="7A1F2E"/>
          </a:solidFill>
          <a:ln/>
        </p:spPr>
      </p:sp>
      <p:sp>
        <p:nvSpPr>
          <p:cNvPr id="12" name="Text 10"/>
          <p:cNvSpPr/>
          <p:nvPr/>
        </p:nvSpPr>
        <p:spPr>
          <a:xfrm>
            <a:off x="4419295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04895" y="3931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Whiteboard-based teaching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86830" y="306324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F7F7FA"/>
          </a:solidFill>
          <a:ln w="12700">
            <a:solidFill>
              <a:srgbClr val="E3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38390" y="3246120"/>
            <a:ext cx="548640" cy="548640"/>
          </a:xfrm>
          <a:prstGeom prst="ellipse">
            <a:avLst/>
          </a:prstGeom>
          <a:solidFill>
            <a:srgbClr val="7A1F2E"/>
          </a:solidFill>
          <a:ln/>
        </p:spPr>
      </p:sp>
      <p:sp>
        <p:nvSpPr>
          <p:cNvPr id="16" name="Text 14"/>
          <p:cNvSpPr/>
          <p:nvPr/>
        </p:nvSpPr>
        <p:spPr>
          <a:xfrm>
            <a:off x="723839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23990" y="3931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One-on-one doubt clearing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005926" y="306324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F7F7FA"/>
          </a:solidFill>
          <a:ln w="12700">
            <a:solidFill>
              <a:srgbClr val="E3E3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7486" y="3246120"/>
            <a:ext cx="548640" cy="548640"/>
          </a:xfrm>
          <a:prstGeom prst="ellipse">
            <a:avLst/>
          </a:prstGeom>
          <a:solidFill>
            <a:srgbClr val="7A1F2E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7486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3086" y="3931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activities &amp; board practice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5257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covered: number counting, multiplication tables, basic division and multiplication word problems, and language &amp; reading practice.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 Mani Tripathi  |  25SCS1003000720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7A1F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349240" cy="4617720"/>
          </a:xfrm>
          <a:prstGeom prst="roundRect">
            <a:avLst>
              <a:gd name="adj" fmla="val 198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Wide Variation in Levels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4800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2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within the same class, some students were exceptionally smart and quick to grasp new concepts — already ahead of their grade level. Others in Class 5th were not yet familiar with basic Class 1st level counting and reading.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80760" y="1508760"/>
            <a:ext cx="5532120" cy="4617720"/>
          </a:xfrm>
          <a:prstGeom prst="roundRect">
            <a:avLst>
              <a:gd name="adj" fmla="val 1980"/>
            </a:avLst>
          </a:prstGeom>
          <a:solidFill>
            <a:srgbClr val="F7F7FA"/>
          </a:solidFill>
          <a:ln w="12700">
            <a:solidFill>
              <a:srgbClr val="E3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737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55080" y="228600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real, on-ground challenges faced by underprivileged students lacking consistent quality education.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Reinforced the importance of individualized attention over a one-size-fits-all method.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Shy students gradually became more comfortable and participative as sessions progressed.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 and consistent encouragement visibly improve a student's willingness to learn.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 Mani Tripathi  |  25SCS1003000720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7A1F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Session-wise Schedule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4572000"/>
        </p:xfrm>
        <a:graphic>
          <a:graphicData uri="http://schemas.openxmlformats.org/drawingml/2006/table">
            <a:tbl>
              <a:tblPr/>
              <a:tblGrid>
                <a:gridCol w="1920240"/>
                <a:gridCol w="2651760"/>
                <a:gridCol w="6492240"/>
              </a:tblGrid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Session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Class Group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Focus Area / Activity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(Week 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III – Remedial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Introduction: assessment of reading, writing &amp; number skills; basic counting and place value (1000–1500 range).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(Week 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III &amp; V – Combined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Mental maths practice (multiplication &amp; division problems), Hindi reading.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(Week 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I, III &amp; V – Group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learning (14–19), basic division and multiplication word problems, handwriting practice.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(Week 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I, III &amp; V –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Recap of topics, one-on-one doubt clearing, encouraging weaker students, oral tests to track improvement.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 Mani Tripathi  |  25SCS1003000720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7A1F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6675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practical, hands-on experience in teaching and mentoring children from underprivileged backgrounds.</a:t>
            </a:r>
            <a:endParaRPr lang="en-US" sz="1350" dirty="0"/>
          </a:p>
          <a:p>
            <a:pPr algn="l"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to identify and adapt to different learning levels within the same group of students.</a:t>
            </a:r>
            <a:endParaRPr lang="en-US" sz="1350" dirty="0"/>
          </a:p>
          <a:p>
            <a:pPr algn="l"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patience, empathy, and effective communication through direct interaction with children.</a:t>
            </a:r>
            <a:endParaRPr lang="en-US" sz="1350" dirty="0"/>
          </a:p>
          <a:p>
            <a:pPr algn="l"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the value of teamwork by coordinating with fellow interns to manage a diverse group.</a:t>
            </a:r>
            <a:endParaRPr lang="en-US" sz="1350" dirty="0"/>
          </a:p>
          <a:p>
            <a:pPr algn="l"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a strong sense of satisfaction and personal fulfilment through teaching and contributing.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452360" y="1508760"/>
            <a:ext cx="4160520" cy="4206240"/>
          </a:xfrm>
          <a:prstGeom prst="roundRect">
            <a:avLst>
              <a:gd name="adj" fmla="val 2198"/>
            </a:avLst>
          </a:prstGeom>
          <a:solidFill>
            <a:srgbClr val="7A1F2E"/>
          </a:solidFill>
          <a:ln/>
        </p:spPr>
      </p:sp>
      <p:sp>
        <p:nvSpPr>
          <p:cNvPr id="7" name="Text 5"/>
          <p:cNvSpPr/>
          <p:nvPr/>
        </p:nvSpPr>
        <p:spPr>
          <a:xfrm>
            <a:off x="763524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9E4A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7818120" y="2286000"/>
            <a:ext cx="3611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academic objectives, watching these children slowly improve, gain confidence, and enjoy learning was an extremely satisfying and joyful experience — giving us a deep sense of purpose over just one month.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 Mani Tripathi  |  25SCS1003000720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7A1F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Photographs of the Internship Activity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3657600" cy="40690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3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docx_extract/unpacked/word/media/image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08760"/>
            <a:ext cx="3566160" cy="3246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4800600"/>
            <a:ext cx="3419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 teaching students at the Mahila SewaShakti Foundation centre.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251960" y="1463040"/>
            <a:ext cx="3657600" cy="40690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3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1" descr="/home/claude/docx_extract/unpacked/word/media/image3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97680" y="1508760"/>
            <a:ext cx="3566160" cy="32461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70832" y="4800600"/>
            <a:ext cx="3419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intern helping students with their classwork during a Monday session.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8001000" y="1463040"/>
            <a:ext cx="3657600" cy="40690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3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12" name="Image 2" descr="/home/claude/docx_extract/unpacked/word/media/image4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46720" y="1508760"/>
            <a:ext cx="3566160" cy="32461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19872" y="4800600"/>
            <a:ext cx="3419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Whiteboard teaching session for Class III and V remedial batch.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 Mani Tripathi  |  25SCS1003000720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4526280"/>
          </a:xfrm>
          <a:prstGeom prst="roundRect">
            <a:avLst>
              <a:gd name="adj" fmla="val 2020"/>
            </a:avLst>
          </a:prstGeom>
          <a:solidFill>
            <a:srgbClr val="24306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10332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F2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social internship with Mahila SewaShakti Foundation was a truly enriching and eye-opening experience. Working as a group to teach students of Classes 1st, 3rd and 5th allowed us to step outside the conventional technical scope of our degree and contribute meaningfully to society.</a:t>
            </a:r>
            <a:endParaRPr lang="en-US" sz="1550" dirty="0"/>
          </a:p>
          <a:p>
            <a:pPr algn="l" indent="0" marL="0">
              <a:lnSpc>
                <a:spcPct val="130000"/>
              </a:lnSpc>
              <a:buNone/>
            </a:pPr>
            <a:endParaRPr lang="en-US" sz="15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F2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taught us that education is not just about delivering a fixed curriculum, but about understanding each student's individual needs and helping them grow at their own pace.</a:t>
            </a:r>
            <a:endParaRPr lang="en-US" sz="1550" dirty="0"/>
          </a:p>
          <a:p>
            <a:pPr algn="l" indent="0" marL="0">
              <a:lnSpc>
                <a:spcPct val="130000"/>
              </a:lnSpc>
              <a:buNone/>
            </a:pPr>
            <a:endParaRPr lang="en-US" sz="15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F2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extremely thankful to Ms. Sarita, our mentor at the NGO, for her constant guidance and support. This internship has left me with valuable memories, a deeper sense of social responsibility, and a genuine appreciation for the effort that goes into shaping young minds.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Screenshot_2026-08-29_1648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0116" y="1097280"/>
            <a:ext cx="1188720" cy="9509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60604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5088636" y="3474720"/>
            <a:ext cx="2011680" cy="0"/>
          </a:xfrm>
          <a:prstGeom prst="line">
            <a:avLst/>
          </a:prstGeom>
          <a:noFill/>
          <a:ln w="25400">
            <a:solidFill>
              <a:srgbClr val="7A1F2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0" y="36576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 Mani Tripathi  •  25SCS1003000720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0" y="40233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CSE, 3rd Semester  •  IILM University, Greater Noida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2026-08-30T13:20:38Z</dcterms:created>
  <dcterms:modified xsi:type="dcterms:W3CDTF">2026-08-30T13:20:38Z</dcterms:modified>
</cp:coreProperties>
</file>